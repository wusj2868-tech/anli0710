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70275687c47c8" /><Relationship Type="http://schemas.openxmlformats.org/officeDocument/2006/relationships/extended-properties" Target="/docProps/app.xml" Id="R63599d4c581d4748" /><Relationship Type="http://schemas.openxmlformats.org/officeDocument/2006/relationships/officeDocument" Target="/ppt/presentation.xml" Id="R5b61e39777b04d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6c9b5675f4cfa"/>
  </p:sldMasterIdLst>
  <p:notesMasterIdLst>
    <p:notesMasterId xmlns:r="http://schemas.openxmlformats.org/officeDocument/2006/relationships" r:id="Re74b13b729314363"/>
  </p:notesMasterIdLst>
  <p:sldIdLst>
    <p:sldId xmlns:r="http://schemas.openxmlformats.org/officeDocument/2006/relationships" id="256" r:id="R31b643a45d1a4e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548f39d524734" /><Relationship Type="http://schemas.openxmlformats.org/officeDocument/2006/relationships/slideMaster" Target="/ppt/slideMasters/slideMaster1.xml" Id="R9046c9b5675f4cfa" /><Relationship Type="http://schemas.openxmlformats.org/officeDocument/2006/relationships/notesMaster" Target="/ppt/notesMasters/notesMaster1.xml" Id="Re74b13b729314363" /><Relationship Type="http://schemas.openxmlformats.org/officeDocument/2006/relationships/presProps" Target="/ppt/presProps.xml" Id="R37b9f652c7804016" /><Relationship Type="http://schemas.openxmlformats.org/officeDocument/2006/relationships/tableStyles" Target="/ppt/tableStyles.xml" Id="Rcb16f0b8cfcc4036" /><Relationship Type="http://schemas.openxmlformats.org/officeDocument/2006/relationships/slide" Target="/ppt/slides/slide1.xml" Id="R31b643a45d1a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0ba2798dd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d5ebf985247a0" /><Relationship Type="http://schemas.openxmlformats.org/officeDocument/2006/relationships/notesMaster" Target="/ppt/notesMasters/notesMaster1.xml" Id="R490c2e424074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834fb626a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1d7615a21743ee" /><Relationship Type="http://schemas.openxmlformats.org/officeDocument/2006/relationships/slideLayout" Target="/ppt/slideLayouts/slideLayout1.xml" Id="Rfb703308fbdd4e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703308fbdd4e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e08233a245bc" /><Relationship Type="http://schemas.openxmlformats.org/officeDocument/2006/relationships/notesSlide" Target="/ppt/notesSlides/notesSlide1.xml" Id="R664b5d42e6834d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A7F07F41-2DE5-4966-913C-17889CAC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83"/>
          </a:solidFill>
          <a:ln xmlns:a="http://schemas.openxmlformats.org/drawingml/2006/main" w="0">
            <a:solidFill>
              <a:srgbClr val="1F6D83"/>
            </a:solidFill>
            <a:prstDash val="solid"/>
          </a:ln>
        </p:spPr>
      </p:sp>
      <p:sp>
        <p:nvSpPr>
          <p:cNvPr id="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7E2275C4-2380-4E2F-98BB-94C7C54A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46969A9-A23B-4EB1-AB2E-5F66421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D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F6D83"/>
                </a:solidFill>
                <a:latin typeface="PingFang SC"/>
                <a:ea typeface="PingFang SC"/>
                <a:cs typeface="PingFang SC"/>
              </a:rPr>
              <a:t>传播机制｜危机合约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FC49E2-D34D-4AD4-B89C-EEDE41E3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危机合约如何把高难关卡变成社区内容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58535D3-1882-48C8-9618-ABA4946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7606A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7606A"/>
                </a:solidFill>
                <a:latin typeface="PingFang SC"/>
                <a:ea typeface="PingFang SC"/>
                <a:cs typeface="PingFang SC"/>
              </a:rPr>
              <a:t>高难度并非传播终点，只有经过讨论、观看与二创，才能进入社区记忆。</a:t>
            </a:r>
          </a:p>
        </p:txBody>
      </p:sp>
      <p:sp>
        <p:nvSpPr>
          <p:cNvPr id="6" name="axis-label">
            <a:extLst xmlns:a="http://schemas.openxmlformats.org/drawingml/2006/main">
              <a:ext uri="{FF2B5EF4-FFF2-40B4-BE49-F238E27FC236}">
                <a16:creationId xmlns:a16="http://schemas.microsoft.com/office/drawing/2014/main" id="{5B147D1F-577A-4618-9101-13EC1E3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6D8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6D83"/>
                </a:solidFill>
                <a:latin typeface="PingFang SC"/>
                <a:ea typeface="PingFang SC"/>
                <a:cs typeface="PingFang SC"/>
              </a:rPr>
              <a:t>从玩法到传播</a:t>
            </a:r>
          </a:p>
        </p:txBody>
      </p:sp>
      <p:sp>
        <p:nvSpPr>
          <p:cNvPr id="7" name="vertical-axis">
            <a:extLst xmlns:a="http://schemas.openxmlformats.org/drawingml/2006/main">
              <a:ext uri="{FF2B5EF4-FFF2-40B4-BE49-F238E27FC236}">
                <a16:creationId xmlns:a16="http://schemas.microsoft.com/office/drawing/2014/main" id="{40637C1D-8A66-40FD-BCB7-656B5EE7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1F6D83"/>
            </a:solidFill>
            <a:prstDash val="solid"/>
          </a:ln>
        </p:spPr>
      </p:sp>
      <p:sp>
        <p:nvSpPr>
          <p:cNvPr id="8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E34863A2-0B2B-49B9-AB92-5FCCFA42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玩法门槛</a:t>
            </a:r>
          </a:p>
        </p:txBody>
      </p:sp>
      <p:sp>
        <p:nvSpPr>
          <p:cNvPr id="9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873D0FF8-DD82-4FB4-A083-6C3D4D0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D83"/>
          </a:solidFill>
          <a:ln xmlns:a="http://schemas.openxmlformats.org/drawingml/2006/main" w="0">
            <a:solidFill>
              <a:srgbClr val="1F6D83"/>
            </a:solidFill>
            <a:prstDash val="solid"/>
          </a:ln>
        </p:spPr>
      </p:sp>
      <p:sp>
        <p:nvSpPr>
          <p:cNvPr id="10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B972E631-5519-430D-9477-DB5B383A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rPr>
              <a:t>高难度与可调风险，制造不同解法</a:t>
            </a:r>
          </a:p>
        </p:txBody>
      </p:sp>
      <p:sp>
        <p:nvSpPr>
          <p:cNvPr id="11" name="node-1">
            <a:extLst xmlns:a="http://schemas.openxmlformats.org/drawingml/2006/main">
              <a:ext uri="{FF2B5EF4-FFF2-40B4-BE49-F238E27FC236}">
                <a16:creationId xmlns:a16="http://schemas.microsoft.com/office/drawing/2014/main" id="{CAAFC034-06F4-4124-A6A5-5F733528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62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8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node-1-number">
            <a:extLst xmlns:a="http://schemas.openxmlformats.org/drawingml/2006/main">
              <a:ext uri="{FF2B5EF4-FFF2-40B4-BE49-F238E27FC236}">
                <a16:creationId xmlns:a16="http://schemas.microsoft.com/office/drawing/2014/main" id="{84FD5251-C3A8-4D22-AB22-0EAEF5A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478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evidence-1">
            <a:extLst xmlns:a="http://schemas.openxmlformats.org/drawingml/2006/main">
              <a:ext uri="{FF2B5EF4-FFF2-40B4-BE49-F238E27FC236}">
                <a16:creationId xmlns:a16="http://schemas.microsoft.com/office/drawing/2014/main" id="{166BAD2E-3F17-4159-AFD4-A37545D5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47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EBCC7"/>
            </a:solidFill>
            <a:prstDash val="dash"/>
          </a:ln>
        </p:spPr>
      </p:sp>
      <p:sp>
        <p:nvSpPr>
          <p:cNvPr id="14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AC926C66-5072-4CC3-B57F-5392D95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95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6D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6D83"/>
                </a:solidFill>
                <a:latin typeface="PingFang SC"/>
                <a:ea typeface="PingFang SC"/>
                <a:cs typeface="PingFang SC"/>
              </a:rPr>
              <a:t>时间轴</a:t>
            </a:r>
          </a:p>
        </p:txBody>
      </p:sp>
      <p:sp>
        <p:nvSpPr>
          <p:cNvPr id="15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3AF34ED7-7576-4AC2-8F46-BB182CDF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621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AAB8C4"/>
            </a:solidFill>
            <a:prstDash val="solid"/>
          </a:ln>
        </p:spPr>
      </p:sp>
      <p:sp>
        <p:nvSpPr>
          <p:cNvPr id="16" name="timeline-start">
            <a:extLst xmlns:a="http://schemas.openxmlformats.org/drawingml/2006/main">
              <a:ext uri="{FF2B5EF4-FFF2-40B4-BE49-F238E27FC236}">
                <a16:creationId xmlns:a16="http://schemas.microsoft.com/office/drawing/2014/main" id="{860303F9-0FEA-4BE7-9802-BE242B4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D8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timeline-end">
            <a:extLst xmlns:a="http://schemas.openxmlformats.org/drawingml/2006/main">
              <a:ext uri="{FF2B5EF4-FFF2-40B4-BE49-F238E27FC236}">
                <a16:creationId xmlns:a16="http://schemas.microsoft.com/office/drawing/2014/main" id="{A7C93906-E0A1-4CE7-87A0-3891B987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9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5C1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imeline-date-start">
            <a:extLst xmlns:a="http://schemas.openxmlformats.org/drawingml/2006/main">
              <a:ext uri="{FF2B5EF4-FFF2-40B4-BE49-F238E27FC236}">
                <a16:creationId xmlns:a16="http://schemas.microsoft.com/office/drawing/2014/main" id="{70295EFF-7A5E-4A53-813A-84ECB775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6D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6D83"/>
                </a:solidFill>
                <a:latin typeface="PingFang SC"/>
                <a:ea typeface="PingFang SC"/>
                <a:cs typeface="PingFang SC"/>
              </a:rPr>
              <a:t>2019.11.19</a:t>
            </a:r>
          </a:p>
        </p:txBody>
      </p:sp>
      <p:sp>
        <p:nvSpPr>
          <p:cNvPr id="19" name="timeline-date-end">
            <a:extLst xmlns:a="http://schemas.openxmlformats.org/drawingml/2006/main">
              <a:ext uri="{FF2B5EF4-FFF2-40B4-BE49-F238E27FC236}">
                <a16:creationId xmlns:a16="http://schemas.microsoft.com/office/drawing/2014/main" id="{1F2A4498-F04E-4251-B23F-29DA367A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573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15C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15C16"/>
                </a:solidFill>
                <a:latin typeface="PingFang SC"/>
                <a:ea typeface="PingFang SC"/>
                <a:cs typeface="PingFang SC"/>
              </a:rPr>
              <a:t>2026.06.19</a:t>
            </a:r>
          </a:p>
        </p:txBody>
      </p:sp>
      <p:sp>
        <p:nvSpPr>
          <p:cNvPr id="20" name="timeline-start-text">
            <a:extLst xmlns:a="http://schemas.openxmlformats.org/drawingml/2006/main">
              <a:ext uri="{FF2B5EF4-FFF2-40B4-BE49-F238E27FC236}">
                <a16:creationId xmlns:a16="http://schemas.microsoft.com/office/drawing/2014/main" id="{00C82AD0-B524-4AB8-9158-C47C2E44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955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《明日方舟》危机合约上线</a:t>
            </a:r>
          </a:p>
        </p:txBody>
      </p:sp>
      <p:sp>
        <p:nvSpPr>
          <p:cNvPr id="21" name="timeline-end-text">
            <a:extLst xmlns:a="http://schemas.openxmlformats.org/drawingml/2006/main">
              <a:ext uri="{FF2B5EF4-FFF2-40B4-BE49-F238E27FC236}">
                <a16:creationId xmlns:a16="http://schemas.microsoft.com/office/drawing/2014/main" id="{A0C9DB61-9F58-40C6-9E7F-ED8D10E0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955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《终末地》危机合约上线</a:t>
            </a:r>
          </a:p>
        </p:txBody>
      </p:sp>
      <p:sp>
        <p:nvSpPr>
          <p:cNvPr id="22" name="timeline-bridge-bg">
            <a:extLst xmlns:a="http://schemas.openxmlformats.org/drawingml/2006/main">
              <a:ext uri="{FF2B5EF4-FFF2-40B4-BE49-F238E27FC236}">
                <a16:creationId xmlns:a16="http://schemas.microsoft.com/office/drawing/2014/main" id="{5D3BB6FF-5354-46FF-B1D8-FE535E2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383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timeline-bridge">
            <a:extLst xmlns:a="http://schemas.openxmlformats.org/drawingml/2006/main">
              <a:ext uri="{FF2B5EF4-FFF2-40B4-BE49-F238E27FC236}">
                <a16:creationId xmlns:a16="http://schemas.microsoft.com/office/drawing/2014/main" id="{8E05FF1E-4A73-4CED-815D-454E3A98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57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A0ACB8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A0ACB8"/>
                </a:solidFill>
                <a:latin typeface="PingFang SC"/>
                <a:ea typeface="PingFang SC"/>
                <a:cs typeface="PingFang SC"/>
              </a:rPr>
              <a:t>玩法谱系延续</a:t>
            </a:r>
          </a:p>
        </p:txBody>
      </p:sp>
      <p:sp>
        <p:nvSpPr>
          <p:cNvPr id="24" name="horizontal-link-1">
            <a:extLst xmlns:a="http://schemas.openxmlformats.org/drawingml/2006/main">
              <a:ext uri="{FF2B5EF4-FFF2-40B4-BE49-F238E27FC236}">
                <a16:creationId xmlns:a16="http://schemas.microsoft.com/office/drawing/2014/main" id="{AA6ECB5A-02E1-408D-8D5C-433CFAFE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AB8C4"/>
            </a:solidFill>
            <a:prstDash val="solid"/>
          </a:ln>
        </p:spPr>
      </p:sp>
      <p:sp>
        <p:nvSpPr>
          <p:cNvPr id="25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BB1E9126-FD95-4047-9A77-7CAF6F17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社区讨论</a:t>
            </a:r>
          </a:p>
        </p:txBody>
      </p:sp>
      <p:sp>
        <p:nvSpPr>
          <p:cNvPr id="26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64EF9E88-5885-4D76-AFE2-BCFF9D6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2B"/>
          </a:solidFill>
          <a:ln xmlns:a="http://schemas.openxmlformats.org/drawingml/2006/main" w="0">
            <a:solidFill>
              <a:srgbClr val="D77A2B"/>
            </a:solidFill>
            <a:prstDash val="solid"/>
          </a:ln>
        </p:spPr>
      </p:sp>
      <p:sp>
        <p:nvSpPr>
          <p:cNvPr id="27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6996028F-9F20-4820-BDCD-C8198DD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rPr>
              <a:t>玩家比较机制、阵容与通关思路</a:t>
            </a:r>
          </a:p>
        </p:txBody>
      </p:sp>
      <p:sp>
        <p:nvSpPr>
          <p:cNvPr id="28" name="node-2">
            <a:extLst xmlns:a="http://schemas.openxmlformats.org/drawingml/2006/main">
              <a:ext uri="{FF2B5EF4-FFF2-40B4-BE49-F238E27FC236}">
                <a16:creationId xmlns:a16="http://schemas.microsoft.com/office/drawing/2014/main" id="{F00A4768-D636-4D91-B8DB-315AC602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A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node-2-number">
            <a:extLst xmlns:a="http://schemas.openxmlformats.org/drawingml/2006/main">
              <a:ext uri="{FF2B5EF4-FFF2-40B4-BE49-F238E27FC236}">
                <a16:creationId xmlns:a16="http://schemas.microsoft.com/office/drawing/2014/main" id="{BCEA4780-EE27-4515-B08D-9E998C23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765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0" name="evidence-2">
            <a:extLst xmlns:a="http://schemas.openxmlformats.org/drawingml/2006/main">
              <a:ext uri="{FF2B5EF4-FFF2-40B4-BE49-F238E27FC236}">
                <a16:creationId xmlns:a16="http://schemas.microsoft.com/office/drawing/2014/main" id="{BF02D4FF-44C4-4712-97E7-63C039E3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647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EBCC7"/>
            </a:solidFill>
            <a:prstDash val="dash"/>
          </a:ln>
        </p:spPr>
      </p:sp>
      <p:sp>
        <p:nvSpPr>
          <p:cNvPr id="31" name="evidence-2-tag">
            <a:extLst xmlns:a="http://schemas.openxmlformats.org/drawingml/2006/main">
              <a:ext uri="{FF2B5EF4-FFF2-40B4-BE49-F238E27FC236}">
                <a16:creationId xmlns:a16="http://schemas.microsoft.com/office/drawing/2014/main" id="{B3A91BAE-7BB6-4FCC-AE2D-468F506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43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7A2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77A2B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32" name="evidence-2-hint">
            <a:extLst xmlns:a="http://schemas.openxmlformats.org/drawingml/2006/main">
              <a:ext uri="{FF2B5EF4-FFF2-40B4-BE49-F238E27FC236}">
                <a16:creationId xmlns:a16="http://schemas.microsoft.com/office/drawing/2014/main" id="{675577A1-1A7B-4EE6-88FA-FE07BAEE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13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B8794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放置评论区、攻略讨论或高频关键词截图</a:t>
            </a:r>
          </a:p>
        </p:txBody>
      </p:sp>
      <p:sp>
        <p:nvSpPr>
          <p:cNvPr id="33" name="evidence-2-subhint">
            <a:extLst xmlns:a="http://schemas.openxmlformats.org/drawingml/2006/main">
              <a:ext uri="{FF2B5EF4-FFF2-40B4-BE49-F238E27FC236}">
                <a16:creationId xmlns:a16="http://schemas.microsoft.com/office/drawing/2014/main" id="{8C715EA6-67CD-41DF-BFF5-845268F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289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A0ACB8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A0ACB8"/>
                </a:solidFill>
                <a:latin typeface="PingFang SC"/>
                <a:ea typeface="PingFang SC"/>
                <a:cs typeface="PingFang SC"/>
              </a:rPr>
              <a:t>重点证明：玩家开始解释“为什么这样打”</a:t>
            </a:r>
          </a:p>
        </p:txBody>
      </p:sp>
      <p:sp>
        <p:nvSpPr>
          <p:cNvPr id="34" name="horizontal-link-2">
            <a:extLst xmlns:a="http://schemas.openxmlformats.org/drawingml/2006/main">
              <a:ext uri="{FF2B5EF4-FFF2-40B4-BE49-F238E27FC236}">
                <a16:creationId xmlns:a16="http://schemas.microsoft.com/office/drawing/2014/main" id="{B5591F24-B42E-476D-B427-CBE55748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AB8C4"/>
            </a:solidFill>
            <a:prstDash val="solid"/>
          </a:ln>
        </p:spPr>
      </p:sp>
      <p:sp>
        <p:nvSpPr>
          <p:cNvPr id="3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C5CD9B97-81C2-49E9-813D-3760D8C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内容生产</a:t>
            </a:r>
          </a:p>
        </p:txBody>
      </p:sp>
      <p:sp>
        <p:nvSpPr>
          <p:cNvPr id="36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A755A277-FEFD-4FE0-A03D-4DBBEDDE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A97"/>
          </a:solidFill>
          <a:ln xmlns:a="http://schemas.openxmlformats.org/drawingml/2006/main" w="0">
            <a:solidFill>
              <a:srgbClr val="8C5A97"/>
            </a:solidFill>
            <a:prstDash val="solid"/>
          </a:ln>
        </p:spPr>
      </p:sp>
      <p:sp>
        <p:nvSpPr>
          <p:cNvPr id="37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582C7C9E-12F9-4309-BCCF-232D982F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rPr>
              <a:t>高观看视频持续放大玩法讨论</a:t>
            </a:r>
          </a:p>
        </p:txBody>
      </p:sp>
      <p:sp>
        <p:nvSpPr>
          <p:cNvPr id="38" name="node-3">
            <a:extLst xmlns:a="http://schemas.openxmlformats.org/drawingml/2006/main">
              <a:ext uri="{FF2B5EF4-FFF2-40B4-BE49-F238E27FC236}">
                <a16:creationId xmlns:a16="http://schemas.microsoft.com/office/drawing/2014/main" id="{BC1395AE-BE7F-4BFA-BE8B-BED3CEA6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5A9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node-3-number">
            <a:extLst xmlns:a="http://schemas.openxmlformats.org/drawingml/2006/main">
              <a:ext uri="{FF2B5EF4-FFF2-40B4-BE49-F238E27FC236}">
                <a16:creationId xmlns:a16="http://schemas.microsoft.com/office/drawing/2014/main" id="{9A3147A9-2D8E-467D-BA4C-E820DB14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052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40" name="evidence-3">
            <a:extLst xmlns:a="http://schemas.openxmlformats.org/drawingml/2006/main">
              <a:ext uri="{FF2B5EF4-FFF2-40B4-BE49-F238E27FC236}">
                <a16:creationId xmlns:a16="http://schemas.microsoft.com/office/drawing/2014/main" id="{C59519C2-22CE-48D5-BC06-5603503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647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EBCC7"/>
            </a:solidFill>
            <a:prstDash val="dash"/>
          </a:ln>
        </p:spPr>
      </p:sp>
      <p:sp>
        <p:nvSpPr>
          <p:cNvPr id="41" name="evidence-3-tag">
            <a:extLst xmlns:a="http://schemas.openxmlformats.org/drawingml/2006/main">
              <a:ext uri="{FF2B5EF4-FFF2-40B4-BE49-F238E27FC236}">
                <a16:creationId xmlns:a16="http://schemas.microsoft.com/office/drawing/2014/main" id="{56441887-5DA1-44CB-9A0D-B28AB914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71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5A9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C5A97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42" name="evidence-3-hint">
            <a:extLst xmlns:a="http://schemas.openxmlformats.org/drawingml/2006/main">
              <a:ext uri="{FF2B5EF4-FFF2-40B4-BE49-F238E27FC236}">
                <a16:creationId xmlns:a16="http://schemas.microsoft.com/office/drawing/2014/main" id="{5E60F820-66D6-4AB7-96EB-0F7D5D2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00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B8794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放置高观看视频封面、播放量或弹幕截图</a:t>
            </a:r>
          </a:p>
        </p:txBody>
      </p:sp>
      <p:sp>
        <p:nvSpPr>
          <p:cNvPr id="43" name="evidence-3-subhint">
            <a:extLst xmlns:a="http://schemas.openxmlformats.org/drawingml/2006/main">
              <a:ext uri="{FF2B5EF4-FFF2-40B4-BE49-F238E27FC236}">
                <a16:creationId xmlns:a16="http://schemas.microsoft.com/office/drawing/2014/main" id="{FF272BB1-E7A3-4944-A871-BBBCF61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A0ACB8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A0ACB8"/>
                </a:solidFill>
                <a:latin typeface="PingFang SC"/>
                <a:ea typeface="PingFang SC"/>
                <a:cs typeface="PingFang SC"/>
              </a:rPr>
              <a:t>重点证明：解法被转化成可观看的内容</a:t>
            </a:r>
          </a:p>
        </p:txBody>
      </p:sp>
      <p:sp>
        <p:nvSpPr>
          <p:cNvPr id="44" name="horizontal-link-3">
            <a:extLst xmlns:a="http://schemas.openxmlformats.org/drawingml/2006/main">
              <a:ext uri="{FF2B5EF4-FFF2-40B4-BE49-F238E27FC236}">
                <a16:creationId xmlns:a16="http://schemas.microsoft.com/office/drawing/2014/main" id="{2BE0525D-0DF8-41E7-B744-23902354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100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AB8C4"/>
            </a:solidFill>
            <a:prstDash val="solid"/>
          </a:ln>
        </p:spPr>
      </p:sp>
      <p:sp>
        <p:nvSpPr>
          <p:cNvPr id="45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30130A6E-C115-41EC-B3E9-2DC62A4C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二创传播</a:t>
            </a:r>
          </a:p>
        </p:txBody>
      </p:sp>
      <p:sp>
        <p:nvSpPr>
          <p:cNvPr id="46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3172373A-FE3A-41A2-942C-EB5491E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5C16"/>
          </a:solidFill>
          <a:ln xmlns:a="http://schemas.openxmlformats.org/drawingml/2006/main" w="0">
            <a:solidFill>
              <a:srgbClr val="B15C16"/>
            </a:solidFill>
            <a:prstDash val="solid"/>
          </a:ln>
        </p:spPr>
      </p:sp>
      <p:sp>
        <p:nvSpPr>
          <p:cNvPr id="47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1E00A174-1948-4998-815A-ADDD7CCB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3A4656"/>
                </a:solidFill>
                <a:latin typeface="PingFang SC"/>
                <a:ea typeface="PingFang SC"/>
                <a:cs typeface="PingFang SC"/>
              </a:rPr>
              <a:t>梗图、截图和玩家发言扩大传播范围</a:t>
            </a:r>
          </a:p>
        </p:txBody>
      </p:sp>
      <p:sp>
        <p:nvSpPr>
          <p:cNvPr id="48" name="node-4">
            <a:extLst xmlns:a="http://schemas.openxmlformats.org/drawingml/2006/main">
              <a:ext uri="{FF2B5EF4-FFF2-40B4-BE49-F238E27FC236}">
                <a16:creationId xmlns:a16="http://schemas.microsoft.com/office/drawing/2014/main" id="{7AE574AB-49EE-4208-93EC-82CF8D3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5C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node-4-number">
            <a:extLst xmlns:a="http://schemas.openxmlformats.org/drawingml/2006/main">
              <a:ext uri="{FF2B5EF4-FFF2-40B4-BE49-F238E27FC236}">
                <a16:creationId xmlns:a16="http://schemas.microsoft.com/office/drawing/2014/main" id="{D61AD0AB-9ABA-429D-8AAD-3042520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339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50" name="evidence-4">
            <a:extLst xmlns:a="http://schemas.openxmlformats.org/drawingml/2006/main">
              <a:ext uri="{FF2B5EF4-FFF2-40B4-BE49-F238E27FC236}">
                <a16:creationId xmlns:a16="http://schemas.microsoft.com/office/drawing/2014/main" id="{823BECED-BDA1-441D-844E-89CAA61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477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EBCC7"/>
            </a:solidFill>
            <a:prstDash val="dash"/>
          </a:ln>
        </p:spPr>
      </p:sp>
      <p:sp>
        <p:nvSpPr>
          <p:cNvPr id="51" name="evidence-4-tag">
            <a:extLst xmlns:a="http://schemas.openxmlformats.org/drawingml/2006/main">
              <a:ext uri="{FF2B5EF4-FFF2-40B4-BE49-F238E27FC236}">
                <a16:creationId xmlns:a16="http://schemas.microsoft.com/office/drawing/2014/main" id="{2CC30617-868C-48DB-B6C6-92D4948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00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15C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15C16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52" name="evidence-4-hint">
            <a:extLst xmlns:a="http://schemas.openxmlformats.org/drawingml/2006/main">
              <a:ext uri="{FF2B5EF4-FFF2-40B4-BE49-F238E27FC236}">
                <a16:creationId xmlns:a16="http://schemas.microsoft.com/office/drawing/2014/main" id="{5883B633-96D6-4604-8AB4-E5AF448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387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B8794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放置梗图、转发链路或跨社区传播截图</a:t>
            </a:r>
          </a:p>
        </p:txBody>
      </p:sp>
      <p:sp>
        <p:nvSpPr>
          <p:cNvPr id="53" name="evidence-4-subhint">
            <a:extLst xmlns:a="http://schemas.openxmlformats.org/drawingml/2006/main">
              <a:ext uri="{FF2B5EF4-FFF2-40B4-BE49-F238E27FC236}">
                <a16:creationId xmlns:a16="http://schemas.microsoft.com/office/drawing/2014/main" id="{F8459D98-96A5-4339-B4AC-7695EF7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863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A0ACB8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A0ACB8"/>
                </a:solidFill>
                <a:latin typeface="PingFang SC"/>
                <a:ea typeface="PingFang SC"/>
                <a:cs typeface="PingFang SC"/>
              </a:rPr>
              <a:t>重点证明：关卡进入玩家的共同记忆</a:t>
            </a:r>
          </a:p>
        </p:txBody>
      </p:sp>
      <p:sp>
        <p:nvSpPr>
          <p:cNvPr id="54" name="horizontal-link-4">
            <a:extLst xmlns:a="http://schemas.openxmlformats.org/drawingml/2006/main">
              <a:ext uri="{FF2B5EF4-FFF2-40B4-BE49-F238E27FC236}">
                <a16:creationId xmlns:a16="http://schemas.microsoft.com/office/drawing/2014/main" id="{33AE9824-C091-44BA-8469-50AA851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38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AAB8C4"/>
            </a:solidFill>
            <a:prstDash val="solid"/>
          </a:ln>
        </p:spPr>
      </p:sp>
      <p:sp>
        <p:nvSpPr>
          <p:cNvPr id="55" name="conclusion-strip">
            <a:extLst xmlns:a="http://schemas.openxmlformats.org/drawingml/2006/main">
              <a:ext uri="{FF2B5EF4-FFF2-40B4-BE49-F238E27FC236}">
                <a16:creationId xmlns:a16="http://schemas.microsoft.com/office/drawing/2014/main" id="{E2E90127-962E-4E1F-91BB-437995E5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67400"/>
            <a:ext cx="6477000" cy="400050"/>
          </a:xfrm>
          <a:prstGeom xmlns:a="http://schemas.openxmlformats.org/drawingml/2006/main" prst="roundRect">
            <a:avLst>
              <a:gd name="adj" fmla="val 2619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72033"/>
            </a:solidFill>
            <a:prstDash val="solid"/>
          </a:ln>
        </p:spPr>
      </p:sp>
      <p:sp>
        <p:nvSpPr>
          <p:cNvPr id="56" name="conclusion">
            <a:extLst xmlns:a="http://schemas.openxmlformats.org/drawingml/2006/main">
              <a:ext uri="{FF2B5EF4-FFF2-40B4-BE49-F238E27FC236}">
                <a16:creationId xmlns:a16="http://schemas.microsoft.com/office/drawing/2014/main" id="{8FDCED22-F9AE-4190-A562-A9D6AF2B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962650"/>
            <a:ext cx="601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关键不只是“难”，而是难度能否持续生成内容。</a:t>
            </a:r>
          </a:p>
        </p:txBody>
      </p:sp>
    </p:spTree>
    <p:extLst>
      <p:ext uri="{BB962C8B-B14F-4D97-AF65-F5344CB8AC3E}">
        <p14:creationId xmlns:p14="http://schemas.microsoft.com/office/powerpoint/2010/main" val="1353796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2026-07-10T08:06:49.6800000Z</dcterms:created>
  <dcterms:modified xsi:type="dcterms:W3CDTF">2026-07-10T08:06:49.6800000Z</dcterms:modified>
</coreProperties>
</file>