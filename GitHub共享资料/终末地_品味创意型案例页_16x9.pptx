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4e262947b4a09" /><Relationship Type="http://schemas.openxmlformats.org/officeDocument/2006/relationships/extended-properties" Target="/docProps/app.xml" Id="Rb961d7cc38164e73" /><Relationship Type="http://schemas.openxmlformats.org/officeDocument/2006/relationships/officeDocument" Target="/ppt/presentation.xml" Id="Re508eb4f542241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ba36c07a34d19"/>
  </p:sldMasterIdLst>
  <p:notesMasterIdLst>
    <p:notesMasterId xmlns:r="http://schemas.openxmlformats.org/officeDocument/2006/relationships" r:id="Re9b5a02cc685405d"/>
  </p:notesMasterIdLst>
  <p:sldIdLst>
    <p:sldId xmlns:r="http://schemas.openxmlformats.org/officeDocument/2006/relationships" id="256" r:id="Rb2be7ab26a0440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5e9b0e8de40bb" /><Relationship Type="http://schemas.openxmlformats.org/officeDocument/2006/relationships/slideMaster" Target="/ppt/slideMasters/slideMaster1.xml" Id="R0f7ba36c07a34d19" /><Relationship Type="http://schemas.openxmlformats.org/officeDocument/2006/relationships/notesMaster" Target="/ppt/notesMasters/notesMaster1.xml" Id="Re9b5a02cc685405d" /><Relationship Type="http://schemas.openxmlformats.org/officeDocument/2006/relationships/presProps" Target="/ppt/presProps.xml" Id="R03783b7794ea4b11" /><Relationship Type="http://schemas.openxmlformats.org/officeDocument/2006/relationships/tableStyles" Target="/ppt/tableStyles.xml" Id="Rfaac58502f6d43f3" /><Relationship Type="http://schemas.openxmlformats.org/officeDocument/2006/relationships/slide" Target="/ppt/slides/slide1.xml" Id="Rb2be7ab26a04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076cfd99843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2723277944e5f" /><Relationship Type="http://schemas.openxmlformats.org/officeDocument/2006/relationships/notesMaster" Target="/ppt/notesMasters/notesMaster1.xml" Id="Rcff7142986e444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核心判断：终末地凭主创审美建立稀缺心智；工业系统的高门槛正在压缩大众化空间。</a:t>
            </a:r>
          </a:p>
          <a:p xmlns:a="http://schemas.openxmlformats.org/drawingml/2006/main">
            <a:r>
              <a:t>正式上线：鹰角官方公告，2026-01-22 11:00（UTC+8）全球公测，多平台同步开启。https://endfield.hypergryph.com/news/7231</a:t>
            </a:r>
          </a:p>
          <a:p xmlns:a="http://schemas.openxmlformats.org/drawingml/2006/main">
            <a:r>
              <a:t>官方下载口径：2026-01-23 18:00，《明日方舟：终末地》项目组披露全球累计下载量突破3000万。页面采用“上线次日”，未写成“24小时”；官方未披露平台拆分、用户去重口径或预下载是否计入。https://www.bilibili.com/opus/1161032825287213159</a:t>
            </a:r>
          </a:p>
          <a:p xmlns:a="http://schemas.openxmlformats.org/drawingml/2006/main">
            <a:r>
              <a:t>访谈来源：机核 https://www.gcores.com/articles/207170；电ファミニコゲーマー https://news.denfaminicogamer.jp/interview/2512123x；4Gamer https://www.4gamer.net/games/622/G062211/20251111001/；AUTOMATON https://automaton-media.com/articles/reportjp/endfield-20251111-365573/。</a:t>
            </a:r>
          </a:p>
          <a:p xmlns:a="http://schemas.openxmlformats.org/drawingml/2006/main">
            <a:r>
              <a:t>正文权威背书：Apple Developer https://developer.apple.com/cn/news/?id=cpt08xv8；Apple Design Awards 2026 Visuals and Graphics Finalist https://www.apple.com/uk/newsroom/2026/06/apple-reveals-winners-of-the-2026-apple-design-awards/；新华社上线后观察 https://www.news.cn/tw/20260131/e2f84296072144248b6eec987b7a4586/c.html。Apple口径为入围（Finalist），未写作获奖。</a:t>
            </a:r>
          </a:p>
          <a:p xmlns:a="http://schemas.openxmlformats.org/drawingml/2006/main">
            <a:r>
              <a:t>审美底稿：Famitsu https://www.famitsu.com/article/202512/58340 和 https://www.famitsu.com/article/202601/64296；Pocket Gamer https://www.pocketgamer.com/arknights-endfield/interview-light-zhong/。普通媒体仅作为图片、访谈载体或备查证据，不承担正文评价性背书。</a:t>
            </a:r>
          </a:p>
          <a:p xmlns:a="http://schemas.openxmlformats.org/drawingml/2006/main">
            <a:r>
              <a:t>玩法门槛来源：官方研发通讯 https://endfield.hypergryph.com/news/8564；AUTOMATON https://automaton-media.com/en/interviews/arknights-endfields-factory-systems-will-diversify-rather-than-become-more-complex-developers-say-if-things-feel-difficult-theres-no-need-to-rush/；PC Gamer https://www.pcgamer.com/games/action/building-an-optimized-factory-is-so-important-in-arknights-endfield-that-someone-made-a-simulator-tool-for-sharing-your-best-blueprints/。</a:t>
            </a:r>
          </a:p>
          <a:p xmlns:a="http://schemas.openxmlformats.org/drawingml/2006/main">
            <a:r>
              <a:t>活跃口径：官方未披露DAU。Sensor Tower estimate 显示全球移动端2月1-7日日均DAU 73.0万，5月24-30日日均18.9万（-74.1%）；该指标代表活跃规模，不等同用户级 cohort 留存。官方下载量与第三方DAU属于不同指标和覆盖范围，不做直接比例计算。</a:t>
            </a:r>
          </a:p>
          <a:p xmlns:a="http://schemas.openxmlformats.org/drawingml/2006/main">
            <a:r>
              <a:t>核验边界：未找到海猫逐字说“终末地是一直想做的游戏”；佩丽卡具体构思年份未公开。页内采用可核验的2017母题与梦中意象表述。“反复打磨近十年”指2017年方案出现至2026年上线的时间跨度，期间经历方案废弃、重新评估和复活，不代表连续开发十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cd3e3a7504e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924551b2ce489a" /><Relationship Type="http://schemas.openxmlformats.org/officeDocument/2006/relationships/slideLayout" Target="/ppt/slideLayouts/slideLayout1.xml" Id="R826e16efdf6149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e16efdf6149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195281d949d5" /><Relationship Type="http://schemas.openxmlformats.org/officeDocument/2006/relationships/image" Target="/ppt/media/image.png" Id="Rfd74f2aab1de42ae" /><Relationship Type="http://schemas.openxmlformats.org/officeDocument/2006/relationships/image" Target="/ppt/media/image.jpeg" Id="R88dc16195263407f" /><Relationship Type="http://schemas.openxmlformats.org/officeDocument/2006/relationships/image" Target="/ppt/media/image2.jpeg" Id="Rcf7b7d2b912f47e4" /><Relationship Type="http://schemas.openxmlformats.org/officeDocument/2006/relationships/notesSlide" Target="/ppt/notesSlides/notesSlide1.xml" Id="Ra743de94b4e140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hero-background">
            <a:extLst xmlns:a="http://schemas.openxmlformats.org/drawingml/2006/main">
              <a:ext uri="{FF2B5EF4-FFF2-40B4-BE49-F238E27FC236}">
                <a16:creationId xmlns:a16="http://schemas.microsoft.com/office/drawing/2014/main" id="{F6A9FD85-2278-41A6-AB17-AFC18C0C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-rule">
            <a:extLst xmlns:a="http://schemas.openxmlformats.org/drawingml/2006/main">
              <a:ext uri="{FF2B5EF4-FFF2-40B4-BE49-F238E27FC236}">
                <a16:creationId xmlns:a16="http://schemas.microsoft.com/office/drawing/2014/main" id="{F04FD4AE-A677-4644-9C85-F4895E4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label-bg">
            <a:extLst xmlns:a="http://schemas.openxmlformats.org/drawingml/2006/main">
              <a:ext uri="{FF2B5EF4-FFF2-40B4-BE49-F238E27FC236}">
                <a16:creationId xmlns:a16="http://schemas.microsoft.com/office/drawing/2014/main" id="{8FC0D8C6-2C2E-4737-89D3-711DD50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label">
            <a:extLst xmlns:a="http://schemas.openxmlformats.org/drawingml/2006/main">
              <a:ext uri="{FF2B5EF4-FFF2-40B4-BE49-F238E27FC236}">
                <a16:creationId xmlns:a16="http://schemas.microsoft.com/office/drawing/2014/main" id="{BA4819D0-ADBC-4AAA-A340-ED03416F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233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2331"/>
                </a:solidFill>
                <a:latin typeface="PingFang SC"/>
                <a:ea typeface="PingFang SC"/>
                <a:cs typeface="PingFang SC"/>
              </a:rPr>
              <a:t>PATH 1  |  品味创意型</a:t>
            </a:r>
          </a:p>
        </p:txBody>
      </p:sp>
      <p:sp>
        <p:nvSpPr>
          <p:cNvPr id="5" name="case-label">
            <a:extLst xmlns:a="http://schemas.openxmlformats.org/drawingml/2006/main">
              <a:ext uri="{FF2B5EF4-FFF2-40B4-BE49-F238E27FC236}">
                <a16:creationId xmlns:a16="http://schemas.microsoft.com/office/drawing/2014/main" id="{36E831ED-8788-453B-B7AE-73559E46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72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B8C5C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8C5CB"/>
                </a:solidFill>
                <a:latin typeface="PingFang SC"/>
                <a:ea typeface="PingFang SC"/>
                <a:cs typeface="PingFang SC"/>
              </a:rPr>
              <a:t>CASE  明日方舟：终末地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4f2aab1de42ae"/>
          <a:stretch xmlns:a="http://schemas.openxmlformats.org/drawingml/2006/main"/>
        </p:blipFill>
        <p:spPr>
          <a:xfrm xmlns:a="http://schemas.openxmlformats.org/drawingml/2006/main">
            <a:off x="133350" y="1292066"/>
            <a:ext cx="3733800" cy="3607118"/>
          </a:xfrm>
          <a:prstGeom xmlns:a="http://schemas.openxmlformats.org/drawingml/2006/main" prst="rect">
            <a:avLst/>
          </a:prstGeom>
        </p:spPr>
      </p:pic>
      <p:sp>
        <p:nvSpPr>
          <p:cNvPr id="7" name="launch-proof-bg">
            <a:extLst xmlns:a="http://schemas.openxmlformats.org/drawingml/2006/main">
              <a:ext uri="{FF2B5EF4-FFF2-40B4-BE49-F238E27FC236}">
                <a16:creationId xmlns:a16="http://schemas.microsoft.com/office/drawing/2014/main" id="{4991EE9C-0F6A-4756-BA9B-50373082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2400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unch-proof-kicker">
            <a:extLst xmlns:a="http://schemas.openxmlformats.org/drawingml/2006/main">
              <a:ext uri="{FF2B5EF4-FFF2-40B4-BE49-F238E27FC236}">
                <a16:creationId xmlns:a16="http://schemas.microsoft.com/office/drawing/2014/main" id="{7EA8313F-1BF7-40BB-8659-2B1615C2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5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12331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12331"/>
                </a:solidFill>
                <a:latin typeface="PingFang SC"/>
                <a:ea typeface="PingFang SC"/>
                <a:cs typeface="PingFang SC"/>
              </a:rPr>
              <a:t>官方初期成功信号</a:t>
            </a:r>
          </a:p>
        </p:txBody>
      </p:sp>
      <p:sp>
        <p:nvSpPr>
          <p:cNvPr id="9" name="launch-proof">
            <a:extLst xmlns:a="http://schemas.openxmlformats.org/drawingml/2006/main">
              <a:ext uri="{FF2B5EF4-FFF2-40B4-BE49-F238E27FC236}">
                <a16:creationId xmlns:a16="http://schemas.microsoft.com/office/drawing/2014/main" id="{85F96194-0F94-4014-8EEB-78AE787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233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2331"/>
                </a:solidFill>
                <a:latin typeface="PingFang SC"/>
                <a:ea typeface="PingFang SC"/>
                <a:cs typeface="PingFang SC"/>
              </a:rPr>
              <a:t>上线次日下载破3,000万</a:t>
            </a:r>
          </a:p>
        </p:txBody>
      </p:sp>
      <p:sp>
        <p:nvSpPr>
          <p:cNvPr id="10" name="launch-proof-source">
            <a:extLst xmlns:a="http://schemas.openxmlformats.org/drawingml/2006/main">
              <a:ext uri="{FF2B5EF4-FFF2-40B4-BE49-F238E27FC236}">
                <a16:creationId xmlns:a16="http://schemas.microsoft.com/office/drawing/2014/main" id="{9B4AEA66-EA27-44B9-AA19-D4416CF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21336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38" b="0">
                <a:solidFill>
                  <a:srgbClr val="4D5A6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4D5A60"/>
                </a:solidFill>
                <a:latin typeface="PingFang SC"/>
                <a:ea typeface="PingFang SC"/>
                <a:cs typeface="PingFang SC"/>
              </a:rPr>
              <a:t>全球累计下载｜项目组，2026.01.23 18:00</a:t>
            </a:r>
          </a:p>
        </p:txBody>
      </p:sp>
      <p:sp>
        <p:nvSpPr>
          <p:cNvPr id="11" name="launch-proof-corroboration">
            <a:extLst xmlns:a="http://schemas.openxmlformats.org/drawingml/2006/main">
              <a:ext uri="{FF2B5EF4-FFF2-40B4-BE49-F238E27FC236}">
                <a16:creationId xmlns:a16="http://schemas.microsoft.com/office/drawing/2014/main" id="{5A246599-9894-4560-8B75-CD8720D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21336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15" b="0">
                <a:solidFill>
                  <a:srgbClr val="4D5A6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4D5A60"/>
                </a:solidFill>
                <a:latin typeface="PingFang SC"/>
                <a:ea typeface="PingFang SC"/>
                <a:cs typeface="PingFang SC"/>
              </a:rPr>
              <a:t>上线热度旁证｜新华社：展区与论坛讨论保持高热度</a:t>
            </a:r>
          </a:p>
        </p:txBody>
      </p:sp>
      <p:sp>
        <p:nvSpPr>
          <p:cNvPr id="12" name="hero-quote-band">
            <a:extLst xmlns:a="http://schemas.openxmlformats.org/drawingml/2006/main">
              <a:ext uri="{FF2B5EF4-FFF2-40B4-BE49-F238E27FC236}">
                <a16:creationId xmlns:a16="http://schemas.microsoft.com/office/drawing/2014/main" id="{2B691EDD-84FA-4C3C-88C8-1F0A10D6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5875"/>
            <a:ext cx="4000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ero-quote-kicker">
            <a:extLst xmlns:a="http://schemas.openxmlformats.org/drawingml/2006/main">
              <a:ext uri="{FF2B5EF4-FFF2-40B4-BE49-F238E27FC236}">
                <a16:creationId xmlns:a16="http://schemas.microsoft.com/office/drawing/2014/main" id="{B321E0E5-66D3-4882-B9FC-7F30DBD4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149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2DE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DE00"/>
                </a:solidFill>
                <a:latin typeface="PingFang SC"/>
                <a:ea typeface="PingFang SC"/>
                <a:cs typeface="PingFang SC"/>
              </a:rPr>
              <a:t>佩丽卡的创作起点</a:t>
            </a:r>
          </a:p>
        </p:txBody>
      </p:sp>
      <p:sp>
        <p:nvSpPr>
          <p:cNvPr id="14" name="hero-quote">
            <a:extLst xmlns:a="http://schemas.openxmlformats.org/drawingml/2006/main">
              <a:ext uri="{FF2B5EF4-FFF2-40B4-BE49-F238E27FC236}">
                <a16:creationId xmlns:a16="http://schemas.microsoft.com/office/drawing/2014/main" id="{8BAC534E-8855-4BFC-86E2-12576F4B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911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“骑摩托横穿沙漠的少女”</a:t>
            </a:r>
          </a:p>
        </p:txBody>
      </p:sp>
      <p:sp>
        <p:nvSpPr>
          <p:cNvPr id="15" name="hero-quote-note">
            <a:extLst xmlns:a="http://schemas.openxmlformats.org/drawingml/2006/main">
              <a:ext uri="{FF2B5EF4-FFF2-40B4-BE49-F238E27FC236}">
                <a16:creationId xmlns:a16="http://schemas.microsoft.com/office/drawing/2014/main" id="{2444283A-4BE5-47FF-812E-F09553F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53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5DDE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5DDE0"/>
                </a:solidFill>
                <a:latin typeface="PingFang SC"/>
                <a:ea typeface="PingFang SC"/>
                <a:cs typeface="PingFang SC"/>
              </a:rPr>
              <a:t>梦中意象  →  终末地整体设计轴</a:t>
            </a:r>
          </a:p>
        </p:txBody>
      </p:sp>
      <p:sp>
        <p:nvSpPr>
          <p:cNvPr id="16" name="hero-quote-source">
            <a:extLst xmlns:a="http://schemas.openxmlformats.org/drawingml/2006/main">
              <a:ext uri="{FF2B5EF4-FFF2-40B4-BE49-F238E27FC236}">
                <a16:creationId xmlns:a16="http://schemas.microsoft.com/office/drawing/2014/main" id="{68D2BD31-5813-43D2-B2D2-F34678B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86525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7979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7979F"/>
                </a:solidFill>
                <a:latin typeface="PingFang SC"/>
                <a:ea typeface="PingFang SC"/>
                <a:cs typeface="PingFang SC"/>
              </a:rPr>
              <a:t>海猫｜制作人谈佩丽卡的梦中意象</a:t>
            </a:r>
          </a:p>
        </p:txBody>
      </p:sp>
      <p:sp>
        <p:nvSpPr>
          <p:cNvPr id="17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7A731F46-AD9F-4D4C-B42D-71D00D95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1925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8A918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A918F"/>
                </a:solidFill>
                <a:latin typeface="PingFang SC"/>
                <a:ea typeface="PingFang SC"/>
                <a:cs typeface="PingFang SC"/>
              </a:rPr>
              <a:t>内容型游戏机会研究  |  案例</a:t>
            </a:r>
          </a:p>
        </p:txBody>
      </p:sp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22F56F-1021-4180-A2EE-8BEE25F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"/>
            <a:ext cx="735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终末地凭主创审美建立稀缺心智，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775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工业系统的高门槛正在</a:t>
            </a:r>
            <a:r>
              <a:rPr sz="2775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压缩大众化空间</a:t>
            </a:r>
          </a:p>
        </p:txBody>
      </p:sp>
      <p:sp>
        <p:nvSpPr>
          <p:cNvPr id="1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214BC6-BB23-4A88-8BA1-1F08603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57300"/>
            <a:ext cx="721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佩丽卡、武陵与集成工业沿同一套长期母题展开；首发下载放量，后续移动端活跃回落。</a:t>
            </a:r>
          </a:p>
        </p:txBody>
      </p:sp>
      <p:sp>
        <p:nvSpPr>
          <p:cNvPr id="20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36C2634-DA71-43DD-B71B-6350E04B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section-01">
            <a:extLst xmlns:a="http://schemas.openxmlformats.org/drawingml/2006/main">
              <a:ext uri="{FF2B5EF4-FFF2-40B4-BE49-F238E27FC236}">
                <a16:creationId xmlns:a16="http://schemas.microsoft.com/office/drawing/2014/main" id="{8D7D675F-EAFD-455D-8B7F-F4A5B1E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rPr>
              <a:t>01  长期母题持续产品化</a:t>
            </a:r>
          </a:p>
        </p:txBody>
      </p:sp>
      <p:sp>
        <p:nvSpPr>
          <p:cNvPr id="22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4C062D78-00AF-4C56-9DE4-3D3B00B9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7D0"/>
            </a:solidFill>
            <a:prstDash val="solid"/>
          </a:ln>
        </p:spPr>
      </p:sp>
      <p:sp>
        <p:nvSpPr>
          <p:cNvPr id="23" name="timeline-node-2017">
            <a:extLst xmlns:a="http://schemas.openxmlformats.org/drawingml/2006/main">
              <a:ext uri="{FF2B5EF4-FFF2-40B4-BE49-F238E27FC236}">
                <a16:creationId xmlns:a16="http://schemas.microsoft.com/office/drawing/2014/main" id="{9E185F8E-CE83-4507-9877-198F800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331"/>
          </a:solidFill>
          <a:ln xmlns:a="http://schemas.openxmlformats.org/drawingml/2006/main" w="19050">
            <a:solidFill>
              <a:srgbClr val="FCFBF7"/>
            </a:solidFill>
            <a:prstDash val="solid"/>
          </a:ln>
        </p:spPr>
      </p:sp>
      <p:sp>
        <p:nvSpPr>
          <p:cNvPr id="24" name="timeline-date-2017">
            <a:extLst xmlns:a="http://schemas.openxmlformats.org/drawingml/2006/main">
              <a:ext uri="{FF2B5EF4-FFF2-40B4-BE49-F238E27FC236}">
                <a16:creationId xmlns:a16="http://schemas.microsoft.com/office/drawing/2014/main" id="{D24D48C8-AD57-40A6-8C21-CF6F285F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23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31"/>
                </a:solidFill>
                <a:latin typeface="Aptos"/>
                <a:ea typeface="Aptos"/>
                <a:cs typeface="Aptos"/>
              </a:rPr>
              <a:t>2017</a:t>
            </a:r>
          </a:p>
        </p:txBody>
      </p:sp>
      <p:sp>
        <p:nvSpPr>
          <p:cNvPr id="25" name="timeline-label-2017">
            <a:extLst xmlns:a="http://schemas.openxmlformats.org/drawingml/2006/main">
              <a:ext uri="{FF2B5EF4-FFF2-40B4-BE49-F238E27FC236}">
                <a16:creationId xmlns:a16="http://schemas.microsoft.com/office/drawing/2014/main" id="{69CFDFA1-3372-45CF-957A-C1D294F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创作母题出现</a:t>
            </a:r>
          </a:p>
        </p:txBody>
      </p:sp>
      <p:sp>
        <p:nvSpPr>
          <p:cNvPr id="26" name="timeline-detail-2017">
            <a:extLst xmlns:a="http://schemas.openxmlformats.org/drawingml/2006/main">
              <a:ext uri="{FF2B5EF4-FFF2-40B4-BE49-F238E27FC236}">
                <a16:creationId xmlns:a16="http://schemas.microsoft.com/office/drawing/2014/main" id="{152FC2ED-2C52-4C9F-881F-3C5DA11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193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《明日方舟》策划期</a:t>
            </a:r>
          </a:p>
        </p:txBody>
      </p:sp>
      <p:sp>
        <p:nvSpPr>
          <p:cNvPr id="27" name="timeline-node-2021">
            <a:extLst xmlns:a="http://schemas.openxmlformats.org/drawingml/2006/main">
              <a:ext uri="{FF2B5EF4-FFF2-40B4-BE49-F238E27FC236}">
                <a16:creationId xmlns:a16="http://schemas.microsoft.com/office/drawing/2014/main" id="{A4FCF43C-DB76-4189-ABDB-731BD23E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331"/>
          </a:solidFill>
          <a:ln xmlns:a="http://schemas.openxmlformats.org/drawingml/2006/main" w="19050">
            <a:solidFill>
              <a:srgbClr val="FCFBF7"/>
            </a:solidFill>
            <a:prstDash val="solid"/>
          </a:ln>
        </p:spPr>
      </p:sp>
      <p:sp>
        <p:nvSpPr>
          <p:cNvPr id="28" name="timeline-date-2021">
            <a:extLst xmlns:a="http://schemas.openxmlformats.org/drawingml/2006/main">
              <a:ext uri="{FF2B5EF4-FFF2-40B4-BE49-F238E27FC236}">
                <a16:creationId xmlns:a16="http://schemas.microsoft.com/office/drawing/2014/main" id="{8D422A98-9852-4295-9FFE-78034FEF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23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31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29" name="timeline-label-2021">
            <a:extLst xmlns:a="http://schemas.openxmlformats.org/drawingml/2006/main">
              <a:ext uri="{FF2B5EF4-FFF2-40B4-BE49-F238E27FC236}">
                <a16:creationId xmlns:a16="http://schemas.microsoft.com/office/drawing/2014/main" id="{1778D7C5-E798-4416-B0C0-E156169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98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工业方向成型</a:t>
            </a:r>
          </a:p>
        </p:txBody>
      </p:sp>
      <p:sp>
        <p:nvSpPr>
          <p:cNvPr id="30" name="timeline-detail-2021">
            <a:extLst xmlns:a="http://schemas.openxmlformats.org/drawingml/2006/main">
              <a:ext uri="{FF2B5EF4-FFF2-40B4-BE49-F238E27FC236}">
                <a16:creationId xmlns:a16="http://schemas.microsoft.com/office/drawing/2014/main" id="{544379AC-3C06-40E4-B97D-1AF79065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探索 × 自动化</a:t>
            </a:r>
          </a:p>
        </p:txBody>
      </p:sp>
      <p:sp>
        <p:nvSpPr>
          <p:cNvPr id="31" name="timeline-node-2022">
            <a:extLst xmlns:a="http://schemas.openxmlformats.org/drawingml/2006/main">
              <a:ext uri="{FF2B5EF4-FFF2-40B4-BE49-F238E27FC236}">
                <a16:creationId xmlns:a16="http://schemas.microsoft.com/office/drawing/2014/main" id="{DF2E903A-F347-4C84-8A9A-F60A393D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331"/>
          </a:solidFill>
          <a:ln xmlns:a="http://schemas.openxmlformats.org/drawingml/2006/main" w="19050">
            <a:solidFill>
              <a:srgbClr val="FCFBF7"/>
            </a:solidFill>
            <a:prstDash val="solid"/>
          </a:ln>
        </p:spPr>
      </p:sp>
      <p:sp>
        <p:nvSpPr>
          <p:cNvPr id="32" name="timeline-date-2022">
            <a:extLst xmlns:a="http://schemas.openxmlformats.org/drawingml/2006/main">
              <a:ext uri="{FF2B5EF4-FFF2-40B4-BE49-F238E27FC236}">
                <a16:creationId xmlns:a16="http://schemas.microsoft.com/office/drawing/2014/main" id="{112822CF-C8C4-49FE-8BE7-F6102BF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23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2331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33" name="timeline-label-2022">
            <a:extLst xmlns:a="http://schemas.openxmlformats.org/drawingml/2006/main">
              <a:ext uri="{FF2B5EF4-FFF2-40B4-BE49-F238E27FC236}">
                <a16:creationId xmlns:a16="http://schemas.microsoft.com/office/drawing/2014/main" id="{C1AEF4F4-55EB-4FFF-80CF-4AE448E5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98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正式开发</a:t>
            </a:r>
          </a:p>
        </p:txBody>
      </p:sp>
      <p:sp>
        <p:nvSpPr>
          <p:cNvPr id="34" name="timeline-detail-2022">
            <a:extLst xmlns:a="http://schemas.openxmlformats.org/drawingml/2006/main">
              <a:ext uri="{FF2B5EF4-FFF2-40B4-BE49-F238E27FC236}">
                <a16:creationId xmlns:a16="http://schemas.microsoft.com/office/drawing/2014/main" id="{151DAD8D-AEE6-4161-B525-565F1CD2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长期构想产品化</a:t>
            </a:r>
          </a:p>
        </p:txBody>
      </p:sp>
      <p:sp>
        <p:nvSpPr>
          <p:cNvPr id="35" name="timeline-node-2026.01.22">
            <a:extLst xmlns:a="http://schemas.openxmlformats.org/drawingml/2006/main">
              <a:ext uri="{FF2B5EF4-FFF2-40B4-BE49-F238E27FC236}">
                <a16:creationId xmlns:a16="http://schemas.microsoft.com/office/drawing/2014/main" id="{CAD9A547-FAB3-48B1-8AD4-220956B4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4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B3C"/>
          </a:solidFill>
          <a:ln xmlns:a="http://schemas.openxmlformats.org/drawingml/2006/main" w="19050">
            <a:solidFill>
              <a:srgbClr val="FCFBF7"/>
            </a:solidFill>
            <a:prstDash val="solid"/>
          </a:ln>
        </p:spPr>
      </p:sp>
      <p:sp>
        <p:nvSpPr>
          <p:cNvPr id="36" name="timeline-date-2026.01.22">
            <a:extLst xmlns:a="http://schemas.openxmlformats.org/drawingml/2006/main">
              <a:ext uri="{FF2B5EF4-FFF2-40B4-BE49-F238E27FC236}">
                <a16:creationId xmlns:a16="http://schemas.microsoft.com/office/drawing/2014/main" id="{C3935F8E-CBD6-43B6-AB48-BF3810D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57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D64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4B3C"/>
                </a:solidFill>
                <a:latin typeface="Aptos"/>
                <a:ea typeface="Aptos"/>
                <a:cs typeface="Aptos"/>
              </a:rPr>
              <a:t>2026.01.22</a:t>
            </a:r>
          </a:p>
        </p:txBody>
      </p:sp>
      <p:sp>
        <p:nvSpPr>
          <p:cNvPr id="37" name="timeline-label-2026.01.22">
            <a:extLst xmlns:a="http://schemas.openxmlformats.org/drawingml/2006/main">
              <a:ext uri="{FF2B5EF4-FFF2-40B4-BE49-F238E27FC236}">
                <a16:creationId xmlns:a16="http://schemas.microsoft.com/office/drawing/2014/main" id="{47F92628-0507-4313-B733-03484B97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98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全球公测</a:t>
            </a:r>
          </a:p>
        </p:txBody>
      </p:sp>
      <p:sp>
        <p:nvSpPr>
          <p:cNvPr id="38" name="timeline-detail-2026.01.22">
            <a:extLst xmlns:a="http://schemas.openxmlformats.org/drawingml/2006/main">
              <a:ext uri="{FF2B5EF4-FFF2-40B4-BE49-F238E27FC236}">
                <a16:creationId xmlns:a16="http://schemas.microsoft.com/office/drawing/2014/main" id="{FD09716D-21F9-4150-9BCC-7749729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193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多平台正式上线</a:t>
            </a:r>
          </a:p>
        </p:txBody>
      </p:sp>
      <p:sp>
        <p:nvSpPr>
          <p:cNvPr id="39" name="section-02">
            <a:extLst xmlns:a="http://schemas.openxmlformats.org/drawingml/2006/main">
              <a:ext uri="{FF2B5EF4-FFF2-40B4-BE49-F238E27FC236}">
                <a16:creationId xmlns:a16="http://schemas.microsoft.com/office/drawing/2014/main" id="{80255185-A2AB-4F5E-823F-4FB8D049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rPr>
              <a:t>02  稀缺心智的形成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c16195263407f"/>
          <a:srcRect xmlns:a="http://schemas.openxmlformats.org/drawingml/2006/main" l="0" t="24095" r="0" b="2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3181350"/>
            <a:ext cx="3333750" cy="9715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41" name="aesthetic-callout">
            <a:extLst xmlns:a="http://schemas.openxmlformats.org/drawingml/2006/main">
              <a:ext uri="{FF2B5EF4-FFF2-40B4-BE49-F238E27FC236}">
                <a16:creationId xmlns:a16="http://schemas.microsoft.com/office/drawing/2014/main" id="{0AE6BD5A-272E-48DF-A5D2-CF40440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48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当代中国生活经验，经未来工业语言重构</a:t>
            </a:r>
          </a:p>
        </p:txBody>
      </p:sp>
      <p:sp>
        <p:nvSpPr>
          <p:cNvPr id="42" name="aesthetic-body">
            <a:extLst xmlns:a="http://schemas.openxmlformats.org/drawingml/2006/main">
              <a:ext uri="{FF2B5EF4-FFF2-40B4-BE49-F238E27FC236}">
                <a16:creationId xmlns:a16="http://schemas.microsoft.com/office/drawing/2014/main" id="{121E55A4-E1DF-4C80-AEDF-D45B0AD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29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武陵用熟悉的城市原型唤起“家乡感”，把视觉辨识度转成情感认同；2026 Apple Design Awards“视觉图像”类全球入围。</a:t>
            </a:r>
          </a:p>
        </p:txBody>
      </p:sp>
      <p:sp>
        <p:nvSpPr>
          <p:cNvPr id="43" name="panel-divider">
            <a:extLst xmlns:a="http://schemas.openxmlformats.org/drawingml/2006/main">
              <a:ext uri="{FF2B5EF4-FFF2-40B4-BE49-F238E27FC236}">
                <a16:creationId xmlns:a16="http://schemas.microsoft.com/office/drawing/2014/main" id="{9BED1529-8076-4043-B4A5-342B6F6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0" cy="2133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44" name="section-03">
            <a:extLst xmlns:a="http://schemas.openxmlformats.org/drawingml/2006/main">
              <a:ext uri="{FF2B5EF4-FFF2-40B4-BE49-F238E27FC236}">
                <a16:creationId xmlns:a16="http://schemas.microsoft.com/office/drawing/2014/main" id="{7B8CDB51-54CB-4CA6-9AE0-82E73F0A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64B3C"/>
                </a:solidFill>
                <a:latin typeface="PingFang SC"/>
                <a:ea typeface="PingFang SC"/>
                <a:cs typeface="PingFang SC"/>
              </a:rPr>
              <a:t>03  大众化承压</a:t>
            </a:r>
          </a:p>
        </p:txBody>
      </p:sp>
      <p:sp>
        <p:nvSpPr>
          <p:cNvPr id="45" name="scale-scope">
            <a:extLst xmlns:a="http://schemas.openxmlformats.org/drawingml/2006/main">
              <a:ext uri="{FF2B5EF4-FFF2-40B4-BE49-F238E27FC236}">
                <a16:creationId xmlns:a16="http://schemas.microsoft.com/office/drawing/2014/main" id="{4ECBBDBD-866F-4E82-9F79-801CB21B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24175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A91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18F"/>
                </a:solidFill>
                <a:latin typeface="Aptos"/>
                <a:ea typeface="Aptos"/>
                <a:cs typeface="Aptos"/>
              </a:rPr>
              <a:t>全球移动端 DAU | ST estimate</a:t>
            </a:r>
          </a:p>
        </p:txBody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7d2b912f47e4"/>
          <a:srcRect xmlns:a="http://schemas.openxmlformats.org/drawingml/2006/main" l="0" t="23911" r="0" b="23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3181350"/>
            <a:ext cx="3333750" cy="9715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47" name="metric-1">
            <a:extLst xmlns:a="http://schemas.openxmlformats.org/drawingml/2006/main">
              <a:ext uri="{FF2B5EF4-FFF2-40B4-BE49-F238E27FC236}">
                <a16:creationId xmlns:a16="http://schemas.microsoft.com/office/drawing/2014/main" id="{58397208-AD42-4233-A2DB-3C53404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1123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D64B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64B3C"/>
                </a:solidFill>
                <a:latin typeface="Aptos"/>
                <a:ea typeface="Aptos"/>
                <a:cs typeface="Aptos"/>
              </a:rPr>
              <a:t>−74%</a:t>
            </a:r>
          </a:p>
        </p:txBody>
      </p:sp>
      <p:sp>
        <p:nvSpPr>
          <p:cNvPr id="4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B1326E7C-197F-479C-A0AA-7F272990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767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2/1–7 → 5/24–30 日均DAU</a:t>
            </a:r>
          </a:p>
        </p:txBody>
      </p:sp>
      <p:sp>
        <p:nvSpPr>
          <p:cNvPr id="49" name="scale-body">
            <a:extLst xmlns:a="http://schemas.openxmlformats.org/drawingml/2006/main">
              <a:ext uri="{FF2B5EF4-FFF2-40B4-BE49-F238E27FC236}">
                <a16:creationId xmlns:a16="http://schemas.microsoft.com/office/drawing/2014/main" id="{331FC3D7-429E-4BB0-98C2-D183745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F686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F686F"/>
                </a:solidFill>
                <a:latin typeface="PingFang SC"/>
                <a:ea typeface="PingFang SC"/>
                <a:cs typeface="PingFang SC"/>
              </a:rPr>
              <a:t>官方持续优化工业引导；移动端活跃规模回落</a:t>
            </a:r>
          </a:p>
        </p:txBody>
      </p:sp>
      <p:sp>
        <p:nvSpPr>
          <p:cNvPr id="50" name="scale-caveat">
            <a:extLst xmlns:a="http://schemas.openxmlformats.org/drawingml/2006/main">
              <a:ext uri="{FF2B5EF4-FFF2-40B4-BE49-F238E27FC236}">
                <a16:creationId xmlns:a16="http://schemas.microsoft.com/office/drawing/2014/main" id="{1C92E9E5-8450-4784-9076-3F2A26B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14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D64B3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D64B3C"/>
                </a:solidFill>
                <a:latin typeface="PingFang SC"/>
                <a:ea typeface="PingFang SC"/>
                <a:cs typeface="PingFang SC"/>
              </a:rPr>
              <a:t>高学习成本与规模回落同现；两者因果关系仍缺少新手漏斗与分层留存数据</a:t>
            </a:r>
          </a:p>
        </p:txBody>
      </p:sp>
      <p:sp>
        <p:nvSpPr>
          <p:cNvPr id="51" name="commentary-band">
            <a:extLst xmlns:a="http://schemas.openxmlformats.org/drawingml/2006/main">
              <a:ext uri="{FF2B5EF4-FFF2-40B4-BE49-F238E27FC236}">
                <a16:creationId xmlns:a16="http://schemas.microsoft.com/office/drawing/2014/main" id="{88F0BF41-D69A-4923-B74F-142B57D8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05425"/>
            <a:ext cx="7562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CE8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52" name="commentary-accent">
            <a:extLst xmlns:a="http://schemas.openxmlformats.org/drawingml/2006/main">
              <a:ext uri="{FF2B5EF4-FFF2-40B4-BE49-F238E27FC236}">
                <a16:creationId xmlns:a16="http://schemas.microsoft.com/office/drawing/2014/main" id="{1C669BF0-2FB7-44A1-BA08-BED4CE03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054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mentary-header">
            <a:extLst xmlns:a="http://schemas.openxmlformats.org/drawingml/2006/main">
              <a:ext uri="{FF2B5EF4-FFF2-40B4-BE49-F238E27FC236}">
                <a16:creationId xmlns:a16="http://schemas.microsoft.com/office/drawing/2014/main" id="{807A777F-E524-44BE-A0ED-21173EB8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673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64B3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64B3C"/>
                </a:solidFill>
                <a:latin typeface="PingFang SC"/>
                <a:ea typeface="PingFang SC"/>
                <a:cs typeface="PingFang SC"/>
              </a:rPr>
              <a:t>小结</a:t>
            </a:r>
          </a:p>
        </p:txBody>
      </p:sp>
      <p:sp>
        <p:nvSpPr>
          <p:cNvPr id="54" name="commentary-body">
            <a:extLst xmlns:a="http://schemas.openxmlformats.org/drawingml/2006/main">
              <a:ext uri="{FF2B5EF4-FFF2-40B4-BE49-F238E27FC236}">
                <a16:creationId xmlns:a16="http://schemas.microsoft.com/office/drawing/2014/main" id="{2ADF8BD7-E767-4F49-AE72-83F592A8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81625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海猫围绕同一创作母题反复打磨近十年，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并将佩丽卡的梦中意象提炼为设计轴，延展到角色、世界与工业玩法。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长期定力、具象想象和系统化落地能力构成终末地的核心支柱，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14212B"/>
                </a:solidFill>
                <a:latin typeface="PingFang SC"/>
                <a:ea typeface="PingFang SC"/>
                <a:cs typeface="PingFang SC"/>
              </a:rPr>
              <a:t>这些特征让早期产品潜力有迹可循，工业系统的普及难度决定规模上限。</a:t>
            </a:r>
          </a:p>
        </p:txBody>
      </p:sp>
      <p:sp>
        <p:nvSpPr>
          <p:cNvPr id="5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2B20549-064F-4963-B396-3299B43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43675"/>
            <a:ext cx="7086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8A918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918F"/>
                </a:solidFill>
                <a:latin typeface="PingFang SC"/>
                <a:ea typeface="PingFang SC"/>
                <a:cs typeface="PingFang SC"/>
              </a:rPr>
              <a:t>资料：鹰角官方、Apple Developer / Apple Design Awards、新华社；DAU 为 Sensor Tower estimate。</a:t>
            </a:r>
          </a:p>
        </p:txBody>
      </p:sp>
    </p:spTree>
    <p:extLst>
      <p:ext uri="{BB962C8B-B14F-4D97-AF65-F5344CB8AC3E}">
        <p14:creationId xmlns:p14="http://schemas.microsoft.com/office/powerpoint/2010/main" val="682952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2026-07-09T20:40:13.6460000Z</dcterms:created>
  <dcterms:modified xsi:type="dcterms:W3CDTF">2026-07-09T20:40:13.6460000Z</dcterms:modified>
</coreProperties>
</file>